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3047"/>
          </a:solidFill>
          <a:ln w="12700">
            <a:solidFill>
              <a:srgbClr val="02304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89320" y="0"/>
            <a:ext cx="3154680" cy="5143500"/>
          </a:xfrm>
          <a:prstGeom prst="rect">
            <a:avLst/>
          </a:prstGeom>
          <a:solidFill>
            <a:srgbClr val="2A9D8F">
              <a:alpha val="92000"/>
            </a:srgbClr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502920"/>
            <a:ext cx="2148840" cy="416052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OpenFugu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66928" y="1792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C4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原理、性能优势与训练成本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03504" y="2395728"/>
            <a:ext cx="48463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F7F7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Qwen3-0.6B 从回答者变成 learned router，让合适的问题交给合适的 worker 模型。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3504" y="3246120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3300984"/>
            <a:ext cx="11795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TRINITY / Fugu line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2057400" y="3246120"/>
            <a:ext cx="1417320" cy="256032"/>
          </a:xfrm>
          <a:prstGeom prst="roundRect">
            <a:avLst>
              <a:gd name="adj" fmla="val 28571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0552" y="3300984"/>
            <a:ext cx="1271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SVF + Linear Head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3611880" y="3246120"/>
            <a:ext cx="1143000" cy="256032"/>
          </a:xfrm>
          <a:prstGeom prst="roundRect">
            <a:avLst>
              <a:gd name="adj" fmla="val 28571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032" y="3300984"/>
            <a:ext cx="9966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LiveClawBench</a:t>
            </a:r>
            <a:endParaRPr lang="en-US" sz="820" dirty="0"/>
          </a:p>
        </p:txBody>
      </p:sp>
      <p:pic>
        <p:nvPicPr>
          <p:cNvPr id="14" name="Image 0" descr="/Users/fupengcheng/Documents/OpenFugu/assets/01_rou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713232"/>
            <a:ext cx="2395728" cy="33375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3504" y="449884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· 技术说明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目录：从问题到训练落地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" y="1170432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18872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94760" y="120700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多模型能力差异、成本与供应商风险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685800" y="1591056"/>
            <a:ext cx="7543800" cy="0"/>
          </a:xfrm>
          <a:prstGeom prst="line">
            <a:avLst/>
          </a:prstGeom>
          <a:noFill/>
          <a:ln w="10160">
            <a:solidFill>
              <a:srgbClr val="D4D4D4">
                <a:alpha val="7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792224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18105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核心原理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94760" y="182880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hidden state → 路由头 → worker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85800" y="2212848"/>
            <a:ext cx="7543800" cy="0"/>
          </a:xfrm>
          <a:prstGeom prst="line">
            <a:avLst/>
          </a:prstGeom>
          <a:noFill/>
          <a:ln w="10160">
            <a:solidFill>
              <a:srgbClr val="D4D4D4">
                <a:alpha val="7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414016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243230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训练方法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94760" y="24505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× worker reward 矩阵与 CMA-ES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685800" y="2834640"/>
            <a:ext cx="7543800" cy="0"/>
          </a:xfrm>
          <a:prstGeom prst="line">
            <a:avLst/>
          </a:prstGeom>
          <a:noFill/>
          <a:ln w="10160">
            <a:solidFill>
              <a:srgbClr val="D4D4D4">
                <a:alpha val="7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03580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25880" y="305409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性能与成本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794760" y="307238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何时省钱、何时更强、何时不划算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685800" y="3456432"/>
            <a:ext cx="7543800" cy="0"/>
          </a:xfrm>
          <a:prstGeom prst="line">
            <a:avLst/>
          </a:prstGeom>
          <a:noFill/>
          <a:ln w="10160">
            <a:solidFill>
              <a:srgbClr val="D4D4D4">
                <a:alpha val="7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65760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25880" y="36758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落地路径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794760" y="369417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 配置、LiveClawBench 在线/离线训练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685800" y="4078224"/>
            <a:ext cx="7543800" cy="0"/>
          </a:xfrm>
          <a:prstGeom prst="line">
            <a:avLst/>
          </a:prstGeom>
          <a:noFill/>
          <a:ln w="10160">
            <a:solidFill>
              <a:srgbClr val="D4D4D4">
                <a:alpha val="7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要解决的问题：不是“再造一个大模型”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170432"/>
            <a:ext cx="2514600" cy="2651760"/>
          </a:xfrm>
          <a:prstGeom prst="roundRect">
            <a:avLst>
              <a:gd name="adj" fmla="val 218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170432"/>
            <a:ext cx="73152" cy="265176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33502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单模型依赖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04088" y="1673352"/>
            <a:ext cx="2203704" cy="2029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一个模型很难在代码、数学、检索、工具调用、长上下文等所有场景同时最优；供应商可用性和政策也会变化。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310128" y="1170432"/>
            <a:ext cx="2514600" cy="2651760"/>
          </a:xfrm>
          <a:prstGeom prst="roundRect">
            <a:avLst>
              <a:gd name="adj" fmla="val 218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1170432"/>
            <a:ext cx="73152" cy="265176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11296" y="133502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成本不均衡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11296" y="1673352"/>
            <a:ext cx="2203704" cy="2029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很多任务不需要最强模型；简单任务全量调用昂贵模型，会把平均成本和延迟拉高。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108192" y="1170432"/>
            <a:ext cx="2514600" cy="2651760"/>
          </a:xfrm>
          <a:prstGeom prst="roundRect">
            <a:avLst>
              <a:gd name="adj" fmla="val 218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08192" y="1170432"/>
            <a:ext cx="73152" cy="26517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33502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任务粒度不同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09360" y="1673352"/>
            <a:ext cx="2203704" cy="2029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agent 工作流不是一道题，而是多步操作、校验和修复。需要按任务选择模型，而不是固定一个入口。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566928" y="4224528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目标：把多个 worker 模型组织成一个统一入口，同时让路由策略可训练、可替换、可评估。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OpenFugu 的答案：一个 learned router，而不是融合权重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143000" cy="822960"/>
          </a:xfrm>
          <a:prstGeom prst="roundRect">
            <a:avLst>
              <a:gd name="adj" fmla="val 7778"/>
            </a:avLst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1545336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用户请求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923544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/ 对话</a:t>
            </a:r>
            <a:endParaRPr lang="en-US" sz="760" dirty="0"/>
          </a:p>
        </p:txBody>
      </p:sp>
      <p:sp>
        <p:nvSpPr>
          <p:cNvPr id="10" name="Shape 8"/>
          <p:cNvSpPr/>
          <p:nvPr/>
        </p:nvSpPr>
        <p:spPr>
          <a:xfrm>
            <a:off x="1719072" y="1828800"/>
            <a:ext cx="493776" cy="0"/>
          </a:xfrm>
          <a:prstGeom prst="line">
            <a:avLst/>
          </a:prstGeom>
          <a:noFill/>
          <a:ln w="20320">
            <a:solidFill>
              <a:srgbClr val="264653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0" y="1261872"/>
            <a:ext cx="1371600" cy="1143000"/>
          </a:xfrm>
          <a:prstGeom prst="roundRect">
            <a:avLst>
              <a:gd name="adj" fmla="val 56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5728" y="1389888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Qwen3-0.6B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95728" y="1673352"/>
            <a:ext cx="1152144" cy="6492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 prefill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不生成答案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3730752" y="1828800"/>
            <a:ext cx="493776" cy="0"/>
          </a:xfrm>
          <a:prstGeom prst="line">
            <a:avLst/>
          </a:prstGeom>
          <a:noFill/>
          <a:ln w="20320">
            <a:solidFill>
              <a:srgbClr val="26465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315968" y="1261872"/>
            <a:ext cx="1371600" cy="1143000"/>
          </a:xfrm>
          <a:prstGeom prst="roundRect">
            <a:avLst>
              <a:gd name="adj" fmla="val 5600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25696" y="1389888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425696" y="1673352"/>
            <a:ext cx="1152144" cy="6492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W_head @ h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slot/role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760720" y="1828800"/>
            <a:ext cx="493776" cy="0"/>
          </a:xfrm>
          <a:prstGeom prst="line">
            <a:avLst/>
          </a:prstGeom>
          <a:noFill/>
          <a:ln w="20320">
            <a:solidFill>
              <a:srgbClr val="264653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55080" y="841248"/>
            <a:ext cx="1143000" cy="658368"/>
          </a:xfrm>
          <a:prstGeom prst="roundRect">
            <a:avLst>
              <a:gd name="adj" fmla="val 9722"/>
            </a:avLst>
          </a:prstGeom>
          <a:solidFill>
            <a:srgbClr val="0070F3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4808" y="969264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64808" y="1252728"/>
            <a:ext cx="9235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便宜/快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6355080" y="1664208"/>
            <a:ext cx="1143000" cy="658368"/>
          </a:xfrm>
          <a:prstGeom prst="roundRect">
            <a:avLst>
              <a:gd name="adj" fmla="val 9722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64808" y="1792224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64808" y="2075688"/>
            <a:ext cx="9235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强通用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6355080" y="2487168"/>
            <a:ext cx="1143000" cy="658368"/>
          </a:xfrm>
          <a:prstGeom prst="roundRect">
            <a:avLst>
              <a:gd name="adj" fmla="val 9722"/>
            </a:avLst>
          </a:prstGeom>
          <a:solidFill>
            <a:srgbClr val="023047"/>
          </a:solidFill>
          <a:ln w="12700">
            <a:solidFill>
              <a:srgbClr val="0230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64808" y="2615184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2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64808" y="2898648"/>
            <a:ext cx="9235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推理/代码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7571232" y="1828800"/>
            <a:ext cx="493776" cy="0"/>
          </a:xfrm>
          <a:prstGeom prst="line">
            <a:avLst/>
          </a:prstGeom>
          <a:noFill/>
          <a:ln w="20320">
            <a:solidFill>
              <a:srgbClr val="264653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138160" y="1417320"/>
            <a:ext cx="685800" cy="822960"/>
          </a:xfrm>
          <a:prstGeom prst="roundRect">
            <a:avLst>
              <a:gd name="adj" fmla="val 9333"/>
            </a:avLst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7888" y="1545336"/>
            <a:ext cx="466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47888" y="1828800"/>
            <a:ext cx="466344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返回给用户</a:t>
            </a:r>
            <a:endParaRPr lang="en-US" sz="760" dirty="0"/>
          </a:p>
        </p:txBody>
      </p:sp>
      <p:pic>
        <p:nvPicPr>
          <p:cNvPr id="32" name="Image 0" descr="/Users/fupengcheng/Documents/OpenFugu/assets/01_rou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246120"/>
            <a:ext cx="7818120" cy="1170432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658368" y="4526280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关键点：worker 权重不被修改，OpenFugu 学的是“什么时候叫谁”。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Mechanism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Qwen3-0.6B 做了什么：只取 prefill 后的 hidden state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078992"/>
            <a:ext cx="2514600" cy="3063240"/>
          </a:xfrm>
          <a:prstGeom prst="roundRect">
            <a:avLst>
              <a:gd name="adj" fmla="val 218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078992"/>
            <a:ext cx="73152" cy="3063240"/>
          </a:xfrm>
          <a:prstGeom prst="rect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4358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普通聊天模型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04088" y="1581912"/>
            <a:ext cx="2203704" cy="2441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读入 prompt，然后 Decode 一个 token 一个 token 生成回答。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310128" y="1078992"/>
            <a:ext cx="2514600" cy="3063240"/>
          </a:xfrm>
          <a:prstGeom prst="roundRect">
            <a:avLst>
              <a:gd name="adj" fmla="val 218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1078992"/>
            <a:ext cx="73152" cy="30632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11296" y="124358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Fugu router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11296" y="1581912"/>
            <a:ext cx="2203704" cy="2441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 Prefill，取 last_hidden_state[0, -2, :]，跳过 Qwen 自己的 Decode。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108192" y="1078992"/>
            <a:ext cx="2514600" cy="3063240"/>
          </a:xfrm>
          <a:prstGeom prst="roundRect">
            <a:avLst>
              <a:gd name="adj" fmla="val 218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08192" y="1078992"/>
            <a:ext cx="73152" cy="306324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24358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直觉理解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09360" y="1581912"/>
            <a:ext cx="2203704" cy="2441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这个向量像“读到倒数第二个 token 时的笔记快照”，包含当前 token 和前文上下文痕迹。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658368" y="437083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token: user, :, 证明, 勾股, 定理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03320" y="43708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46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 -2 → “勾股”位置的 1024 维上下文状态，而不是词典里的固定词向量。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Parameters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参数改造：19,456 个数，而不是全量微调 0.6B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pic>
        <p:nvPicPr>
          <p:cNvPr id="7" name="Image 0" descr="/Users/fupengcheng/Documents/OpenFugu/assets/03_paramv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3794760" cy="3154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17720" y="1024128"/>
            <a:ext cx="3977640" cy="841248"/>
          </a:xfrm>
          <a:prstGeom prst="roundRect">
            <a:avLst>
              <a:gd name="adj" fmla="val 652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7720" y="1024128"/>
            <a:ext cx="73152" cy="84124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18888" y="118872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SVF offsets：9,216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818888" y="1527048"/>
            <a:ext cx="3666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个矩阵 × 1024 个奇异值偏移；轻量改变表示空间。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4617720" y="2057400"/>
            <a:ext cx="3977640" cy="841248"/>
          </a:xfrm>
          <a:prstGeom prst="roundRect">
            <a:avLst>
              <a:gd name="adj" fmla="val 652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2057400"/>
            <a:ext cx="73152" cy="841248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22219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Linear head：10,240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818888" y="2560320"/>
            <a:ext cx="3666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(7 worker + 3 role) × 1024；把 hidden state 映射为路由分数。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4617720" y="3090672"/>
            <a:ext cx="3977640" cy="841248"/>
          </a:xfrm>
          <a:prstGeom prst="roundRect">
            <a:avLst>
              <a:gd name="adj" fmla="val 6522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17720" y="3090672"/>
            <a:ext cx="73152" cy="84124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325526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部署含义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818888" y="3593592"/>
            <a:ext cx="3666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 head 可以很轻；换 worker 池时，通常先 head-only 校准。</a:t>
            </a:r>
            <a:endParaRPr lang="en-US" sz="920" dirty="0"/>
          </a:p>
        </p:txBody>
      </p:sp>
      <p:sp>
        <p:nvSpPr>
          <p:cNvPr id="20" name="Text 17"/>
          <p:cNvSpPr/>
          <p:nvPr/>
        </p:nvSpPr>
        <p:spPr>
          <a:xfrm>
            <a:off x="658368" y="452628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总参数量约 19.5K，远低于 LoRA/全参微调；这也是可以用 CMA-ES 搜索的原因。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SVF：只调整权重矩阵的奇异值强度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50" dirty="0"/>
          </a:p>
        </p:txBody>
      </p:sp>
      <p:pic>
        <p:nvPicPr>
          <p:cNvPr id="7" name="Image 0" descr="/Users/fupengcheng/Documents/OpenFugu/assets/02_sv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60120"/>
            <a:ext cx="374904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800600" y="12344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U · S · Vᵀ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800600" y="18745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S' = S × (1 + offset)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892040" y="2606040"/>
            <a:ext cx="34290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02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 U/V，只学习奇异值缩放</a:t>
            </a:r>
            <a:endParaRPr lang="en-US" sz="1020" dirty="0"/>
          </a:p>
          <a:p>
            <a:r>
              <a:rPr lang="en-US" sz="102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offset 等于原始 Qwen 权重</a:t>
            </a:r>
            <a:endParaRPr lang="en-US" sz="1020" dirty="0"/>
          </a:p>
          <a:p>
            <a:r>
              <a:rPr lang="en-US" sz="102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能改变表示空间，但不会重写整个模型</a:t>
            </a:r>
            <a:endParaRPr lang="en-US" sz="1020" dirty="0"/>
          </a:p>
          <a:p>
            <a:r>
              <a:rPr lang="en-US" sz="102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适合把 backbone 调成“路由特征提取器”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训练闭环：训练的是选择策略，不是 worker 本身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170432"/>
            <a:ext cx="1188720" cy="777240"/>
          </a:xfrm>
          <a:prstGeom prst="roundRect">
            <a:avLst>
              <a:gd name="adj" fmla="val 8235"/>
            </a:avLst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" y="129844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76656" y="1581912"/>
            <a:ext cx="969264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问题/环境</a:t>
            </a:r>
            <a:endParaRPr lang="en-US" sz="760" dirty="0"/>
          </a:p>
        </p:txBody>
      </p:sp>
      <p:sp>
        <p:nvSpPr>
          <p:cNvPr id="10" name="Shape 8"/>
          <p:cNvSpPr/>
          <p:nvPr/>
        </p:nvSpPr>
        <p:spPr>
          <a:xfrm>
            <a:off x="1847088" y="1554480"/>
            <a:ext cx="512064" cy="0"/>
          </a:xfrm>
          <a:prstGeom prst="line">
            <a:avLst/>
          </a:prstGeom>
          <a:noFill/>
          <a:ln w="20320">
            <a:solidFill>
              <a:srgbClr val="264653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50592" y="1170432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1298448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候选参数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581912"/>
            <a:ext cx="1014984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head/SVF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3776472" y="1554480"/>
            <a:ext cx="502920" cy="0"/>
          </a:xfrm>
          <a:prstGeom prst="line">
            <a:avLst/>
          </a:prstGeom>
          <a:noFill/>
          <a:ln w="20320">
            <a:solidFill>
              <a:srgbClr val="26465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370832" y="1170432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298448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worker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480560" y="1581912"/>
            <a:ext cx="1014984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回答/执行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696712" y="1554480"/>
            <a:ext cx="502920" cy="0"/>
          </a:xfrm>
          <a:prstGeom prst="line">
            <a:avLst/>
          </a:prstGeom>
          <a:noFill/>
          <a:ln w="20320">
            <a:solidFill>
              <a:srgbClr val="264653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91072" y="1170432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298448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Reward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0" y="1581912"/>
            <a:ext cx="1014984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0~1 分数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7525512" y="1554480"/>
            <a:ext cx="448056" cy="0"/>
          </a:xfrm>
          <a:prstGeom prst="line">
            <a:avLst/>
          </a:prstGeom>
          <a:noFill/>
          <a:ln w="20320">
            <a:solidFill>
              <a:srgbClr val="26465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028432" y="1170432"/>
            <a:ext cx="658368" cy="777240"/>
          </a:xfrm>
          <a:prstGeom prst="roundRect">
            <a:avLst>
              <a:gd name="adj" fmla="val 9722"/>
            </a:avLst>
          </a:prstGeom>
          <a:solidFill>
            <a:srgbClr val="023047"/>
          </a:solidFill>
          <a:ln w="12700">
            <a:solidFill>
              <a:srgbClr val="0230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129844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138160" y="1581912"/>
            <a:ext cx="438912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76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CMA</a:t>
            </a:r>
            <a:endParaRPr lang="en-US" sz="760" dirty="0"/>
          </a:p>
        </p:txBody>
      </p:sp>
      <p:pic>
        <p:nvPicPr>
          <p:cNvPr id="26" name="Image 0" descr="/Users/fupengcheng/Documents/OpenFugu/assets/04_sep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487168"/>
            <a:ext cx="3840480" cy="178308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800600" y="2487168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800600" y="2487168"/>
            <a:ext cx="73152" cy="17830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001768" y="2651760"/>
            <a:ext cx="3255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为什么不用普通反向传播？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001768" y="2990088"/>
            <a:ext cx="3255264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可能是外部 API；reward 可能来自执行环境/verifier；信号稀疏且不可微。因此用 sep-CMA-ES 这类黑盒优化更自然。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LiveClawBench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训练数据：从题库到真实 agent benchmark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078992"/>
            <a:ext cx="2697480" cy="3063240"/>
          </a:xfrm>
          <a:prstGeom prst="roundRect">
            <a:avLst>
              <a:gd name="adj" fmla="val 2034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078992"/>
            <a:ext cx="73152" cy="306324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43584"/>
            <a:ext cx="2386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GSM8K / MATH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04088" y="1581912"/>
            <a:ext cx="2386584" cy="2441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数字或公式答案可直接校验；成本低，但任务类型单一，worker 差异有限。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401568" y="1078992"/>
            <a:ext cx="2697480" cy="3063240"/>
          </a:xfrm>
          <a:prstGeom prst="roundRect">
            <a:avLst>
              <a:gd name="adj" fmla="val 2034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01568" y="1078992"/>
            <a:ext cx="73152" cy="30632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02736" y="1243584"/>
            <a:ext cx="2386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ToolScale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02736" y="1581912"/>
            <a:ext cx="2386584" cy="2441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工具调用规划任务；可用 expected actions 做 reward，适合训练工具/计划能力路由。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309360" y="1078992"/>
            <a:ext cx="2331720" cy="3063240"/>
          </a:xfrm>
          <a:prstGeom prst="roundRect">
            <a:avLst>
              <a:gd name="adj" fmla="val 2353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078992"/>
            <a:ext cx="73152" cy="306324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1243584"/>
            <a:ext cx="2020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LiveClawBench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10528" y="1581912"/>
            <a:ext cx="2020824" cy="2441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agent 任务：网页、邮件、代码、财务、知识库；reward 来自 Harbor verifier。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658368" y="437083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46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线上路径需要 Docker/Harbor；Colab 无 Docker 时，使用 HuggingFace 已发布 trajectories 做离线 warm start。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Training paths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LiveClawBench：在线评测与离线 trajectories 两条路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143000"/>
            <a:ext cx="3749040" cy="2971800"/>
          </a:xfrm>
          <a:prstGeom prst="roundRect">
            <a:avLst>
              <a:gd name="adj" fmla="val 1846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43000"/>
            <a:ext cx="73152" cy="29718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307592"/>
            <a:ext cx="3438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 Harbor 训练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1645920"/>
            <a:ext cx="3438144" cy="23500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真实调用你的 worker 服务商，Docker 启动任务环境，verifier 写 reward.txt。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优点：分数就是你当前模型池的真实表现。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代价：慢、贵、需要 Docker。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800600" y="1143000"/>
            <a:ext cx="3749040" cy="2971800"/>
          </a:xfrm>
          <a:prstGeom prst="roundRect">
            <a:avLst>
              <a:gd name="adj" fmla="val 1846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1143000"/>
            <a:ext cx="73152" cy="297180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1307592"/>
            <a:ext cx="3438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 trajectories 训练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01768" y="1645920"/>
            <a:ext cx="3438144" cy="23500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 Mosi-AI/LiveClawbench-trajectories，聚合 task × model 历史分数。</a:t>
            </a:r>
            <a:endParaRPr lang="en-US" sz="920" dirty="0"/>
          </a:p>
          <a:p>
            <a:pPr indent="0" marL="0">
              <a:buNone/>
            </a:pP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优点：Colab 可跑、无 Docker。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限制：只能覆盖已发布历史模型名。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713232" y="4407408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实践建议：先离线训练得到 warm start，再在有 Docker 的机器上用小批任务校准当前 worker 池。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性能优势：不是每次都更强，而是提升平均决策质量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126187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固定单模型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2560320" y="1280160"/>
            <a:ext cx="4389120" cy="118872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1280160"/>
            <a:ext cx="2106778" cy="118872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9168" y="125272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" y="162763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随机/手写规则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2560320" y="1645920"/>
            <a:ext cx="4389120" cy="118872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1645920"/>
            <a:ext cx="2457907" cy="118872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9168" y="161848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56%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" y="199339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训练后 router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2560320" y="2011680"/>
            <a:ext cx="4389120" cy="118872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0" y="2011680"/>
            <a:ext cx="3599078" cy="11887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59168" y="198424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" y="235915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Oracle 上限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2560320" y="2377440"/>
            <a:ext cx="4389120" cy="118872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0" y="2377440"/>
            <a:ext cx="4169664" cy="118872"/>
          </a:xfrm>
          <a:prstGeom prst="rect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59168" y="235000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" y="2944368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2944368"/>
            <a:ext cx="73152" cy="13716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" y="3108960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质量收益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95528" y="3447288"/>
            <a:ext cx="2203704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 worker 能力互补时，按任务路由可以超过任何固定单模型。仓库 eval 中训练 router 相对 best single 有明显提升。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3310128" y="2944368"/>
            <a:ext cx="2514600" cy="13716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0128" y="2944368"/>
            <a:ext cx="73152" cy="137160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11296" y="3108960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成本收益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511296" y="3447288"/>
            <a:ext cx="2203704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简单任务落到便宜模型，复杂任务才交给贵模型；平均成本低于总是调用最强模型。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6016752" y="2944368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16752" y="2944368"/>
            <a:ext cx="73152" cy="1371600"/>
          </a:xfrm>
          <a:prstGeom prst="rect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3108960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延迟收益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217920" y="3447288"/>
            <a:ext cx="2295144" cy="7498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TRINITY 路由只需一次 Qwen3-0.6B prefill，无需 router 自己 decode 完整回答。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731520" y="4517136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注意：如果 worker 能力接近、任务单一或 reward 噪声大，路由收益会变小。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Cost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训练成本：真正贵的是 task × worker 的 reward 获取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8046720" cy="384048"/>
          </a:xfrm>
          <a:prstGeom prst="rect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70432"/>
            <a:ext cx="1188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240280" y="1170432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主要成本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70832" y="1170432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瓶颈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675120" y="1170432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1481328"/>
            <a:ext cx="8046720" cy="475488"/>
          </a:xfrm>
          <a:prstGeom prst="rect">
            <a:avLst/>
          </a:prstGeom>
          <a:solidFill>
            <a:srgbClr val="F7F7F7"/>
          </a:solidFill>
          <a:ln w="12700">
            <a:solidFill>
              <a:srgbClr val="D4D4D4">
                <a:alpha val="6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572768"/>
            <a:ext cx="13258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 trajectories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2240280" y="1572768"/>
            <a:ext cx="182880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 Docker/API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4370832" y="1572768"/>
            <a:ext cx="20116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 parquet + Qwen 特征提取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6675120" y="1572768"/>
            <a:ext cx="160020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Colab 可跑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548640" y="2139696"/>
            <a:ext cx="8046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>
                <a:alpha val="6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2231136"/>
            <a:ext cx="13258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 Harbor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2240280" y="2231136"/>
            <a:ext cx="182880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N_tasks × N_workers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4370832" y="2231136"/>
            <a:ext cx="20116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每次要启动环境并调用模型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6675120" y="2231136"/>
            <a:ext cx="160020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最真实也最贵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548640" y="2798064"/>
            <a:ext cx="8046720" cy="475488"/>
          </a:xfrm>
          <a:prstGeom prst="rect">
            <a:avLst/>
          </a:prstGeom>
          <a:solidFill>
            <a:srgbClr val="F7F7F7"/>
          </a:solidFill>
          <a:ln w="12700">
            <a:solidFill>
              <a:srgbClr val="D4D4D4">
                <a:alpha val="6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889504"/>
            <a:ext cx="13258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head-only 校准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2240280" y="2889504"/>
            <a:ext cx="182880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只训练 n_workers × 1024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4370832" y="2889504"/>
            <a:ext cx="20116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不动 SVF/Qwen 权重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6675120" y="2889504"/>
            <a:ext cx="160020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worker 池首选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48640" y="3456432"/>
            <a:ext cx="8046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4">
                <a:alpha val="6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547872"/>
            <a:ext cx="13258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 SVF+head</a:t>
            </a:r>
            <a:endParaRPr lang="en-US" sz="840" dirty="0"/>
          </a:p>
        </p:txBody>
      </p:sp>
      <p:sp>
        <p:nvSpPr>
          <p:cNvPr id="29" name="Text 27"/>
          <p:cNvSpPr/>
          <p:nvPr/>
        </p:nvSpPr>
        <p:spPr>
          <a:xfrm>
            <a:off x="2240280" y="3547872"/>
            <a:ext cx="182880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19,456 维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4370832" y="3547872"/>
            <a:ext cx="20116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需要更多候选与 reward</a:t>
            </a:r>
            <a:endParaRPr lang="en-US" sz="840" dirty="0"/>
          </a:p>
        </p:txBody>
      </p:sp>
      <p:sp>
        <p:nvSpPr>
          <p:cNvPr id="31" name="Text 29"/>
          <p:cNvSpPr/>
          <p:nvPr/>
        </p:nvSpPr>
        <p:spPr>
          <a:xfrm>
            <a:off x="6675120" y="3547872"/>
            <a:ext cx="160020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用于重建原始 checkpoint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640080" y="449884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46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在线成本估算：8 个任务 × 3 个 worker = 24 次完整 Harbor 评测；离线训练则直接复用已发布分数矩阵。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9D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Deployment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11480" y="5029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部署与配置：slot 是稳定契约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051560"/>
            <a:ext cx="2606040" cy="3108960"/>
          </a:xfrm>
          <a:prstGeom prst="roundRect">
            <a:avLst>
              <a:gd name="adj" fmla="val 2105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051560"/>
            <a:ext cx="73152" cy="31089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16152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 顺序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04088" y="1554480"/>
            <a:ext cx="2295144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router 输出 agent_id。YAML workers 的顺序就是 slot 0/1/2。换顺序等于换语义。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273552" y="1051560"/>
            <a:ext cx="2606040" cy="3108960"/>
          </a:xfrm>
          <a:prstGeom prst="roundRect">
            <a:avLst>
              <a:gd name="adj" fmla="val 2105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73552" y="1051560"/>
            <a:ext cx="73152" cy="310896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216152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同分 tie-break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474720" y="1554480"/>
            <a:ext cx="2295144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argmax 并列时选择更小 slot。把便宜/快/够用的模型放前面，贵 reasoning 模型放后面。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053328" y="1051560"/>
            <a:ext cx="2606040" cy="3108960"/>
          </a:xfrm>
          <a:prstGeom prst="roundRect">
            <a:avLst>
              <a:gd name="adj" fmla="val 2105"/>
            </a:avLst>
          </a:prstGeom>
          <a:solidFill>
            <a:srgbClr val="F7F7F7"/>
          </a:solidFill>
          <a:ln w="12700">
            <a:solidFill>
              <a:srgbClr val="D4D4D4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53328" y="1051560"/>
            <a:ext cx="73152" cy="310896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216152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worker 后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254496" y="1554480"/>
            <a:ext cx="2295144" cy="2487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5252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不要盲用旧 head。先跑离线/小批在线 score matrix，再做 head-only 训练。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658368" y="444398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46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配置建议：deepseek_chat → zhipu_glm_5_2 → deepseek_reasoner，表达“同分时优先低成本”。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94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C4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72768" y="1417320"/>
            <a:ext cx="6629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OpenFugu 是 learned router，不是权重融合模型。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94767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C4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947672"/>
            <a:ext cx="6629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Qwen3-0.6B 只做 prefill，hidden state 经线性头选择 worker。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4780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C4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478024"/>
            <a:ext cx="6629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核心数据是 task × worker reward；在线最真实，离线最适合 Colab warm start。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300837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C4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72768" y="3008376"/>
            <a:ext cx="6629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训练贵在获取 reward；服务贵在 worker 调用，router 本身很轻。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77240" y="353872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C4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3538728"/>
            <a:ext cx="6629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 顺序稳定，同分优先便宜/快模型，换 worker 后重训 head。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449884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下一步：在 Colab 跑 offline trajectories，拿到初始 head；再到有 Docker 的机器用 LiveClawBench 在线校准。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522208" y="4663440"/>
            <a:ext cx="310896" cy="310896"/>
          </a:xfrm>
          <a:prstGeom prst="ellipse">
            <a:avLst/>
          </a:prstGeom>
          <a:solidFill>
            <a:srgbClr val="264653"/>
          </a:solidFill>
          <a:ln w="12700">
            <a:solidFill>
              <a:srgbClr val="2646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22208" y="4668012"/>
            <a:ext cx="310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OpenFugu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OpenFugu 原理、性能优势与训练成本</dc:title>
  <dc:subject>OpenFugu principles, training, and cost</dc:subject>
  <dc:creator>OpenFugu</dc:creator>
  <cp:lastModifiedBy>OpenFugu</cp:lastModifiedBy>
  <cp:revision>1</cp:revision>
  <dcterms:created xsi:type="dcterms:W3CDTF">2026-07-06T10:14:13Z</dcterms:created>
  <dcterms:modified xsi:type="dcterms:W3CDTF">2026-07-06T10:14:13Z</dcterms:modified>
</cp:coreProperties>
</file>